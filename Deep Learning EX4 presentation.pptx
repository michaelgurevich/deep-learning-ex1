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DF4350-286E-4E3B-9980-A1D243117C02}">
  <a:tblStyle styleId="{3FDF4350-286E-4E3B-9980-A1D243117C0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8cc05fb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8cc05fb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8cc05fb5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8cc05fb5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8cc05fb5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8cc05fb5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8cc05fb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8cc05fb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8cc05fb5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8cc05fb5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8cc05fb5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8cc05fb5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8cc05fb5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8cc05fb5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8cc05fb5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8cc05fb5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8cc05fb5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8cc05fb5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8cc05fb5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8cc05fb5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8cc05fb5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8cc05fb5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8cc05fb5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8cc05fb5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8cc05fb5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8cc05fb5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Deep Learning - EX4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52400" y="1444975"/>
            <a:ext cx="8839202" cy="3698534"/>
          </a:xfrm>
          <a:prstGeom prst="rect">
            <a:avLst/>
          </a:prstGeom>
          <a:noFill/>
          <a:ln>
            <a:noFill/>
          </a:ln>
        </p:spPr>
      </p:pic>
      <p:sp>
        <p:nvSpPr>
          <p:cNvPr id="60" name="Google Shape;60;p14"/>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#1 - Shallow Architecture SGD vs Adam</a:t>
            </a:r>
            <a:br>
              <a:rPr lang="en" sz="1800">
                <a:solidFill>
                  <a:schemeClr val="dk2"/>
                </a:solidFill>
              </a:rPr>
            </a:br>
            <a:endParaRPr sz="1800">
              <a:solidFill>
                <a:schemeClr val="dk2"/>
              </a:solidFill>
            </a:endParaRPr>
          </a:p>
        </p:txBody>
      </p:sp>
      <p:sp>
        <p:nvSpPr>
          <p:cNvPr id="61" name="Google Shape;61;p14"/>
          <p:cNvSpPr txBox="1"/>
          <p:nvPr/>
        </p:nvSpPr>
        <p:spPr>
          <a:xfrm>
            <a:off x="636250" y="552025"/>
            <a:ext cx="7473600" cy="8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Training Results Analysis:</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Significant overfitting was observed with both optimization algorithm.</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52400" y="1362675"/>
            <a:ext cx="8839204" cy="3780831"/>
          </a:xfrm>
          <a:prstGeom prst="rect">
            <a:avLst/>
          </a:prstGeom>
          <a:noFill/>
          <a:ln>
            <a:noFill/>
          </a:ln>
        </p:spPr>
      </p:pic>
      <p:sp>
        <p:nvSpPr>
          <p:cNvPr id="67" name="Google Shape;67;p15"/>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#2 - Deep Architecture SGD vs Adam</a:t>
            </a:r>
            <a:br>
              <a:rPr lang="en" sz="1800">
                <a:solidFill>
                  <a:schemeClr val="dk2"/>
                </a:solidFill>
              </a:rPr>
            </a:br>
            <a:endParaRPr sz="1800">
              <a:solidFill>
                <a:schemeClr val="dk2"/>
              </a:solidFill>
            </a:endParaRPr>
          </a:p>
        </p:txBody>
      </p:sp>
      <p:sp>
        <p:nvSpPr>
          <p:cNvPr id="68" name="Google Shape;68;p15"/>
          <p:cNvSpPr txBox="1"/>
          <p:nvPr/>
        </p:nvSpPr>
        <p:spPr>
          <a:xfrm>
            <a:off x="636250" y="508725"/>
            <a:ext cx="7473600" cy="8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The deep neural network using SGD was unable to learn effectively, as both training and validation losses stayed constant across all epochs. When switching to the Adam optimizer, the training loss decreased and accuracy improved; however, the validation set continued to show high loss and low accuracy, revealing substantial overfitting.</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6"/>
          <p:cNvPicPr preferRelativeResize="0"/>
          <p:nvPr/>
        </p:nvPicPr>
        <p:blipFill>
          <a:blip r:embed="rId3">
            <a:alphaModFix/>
          </a:blip>
          <a:stretch>
            <a:fillRect/>
          </a:stretch>
        </p:blipFill>
        <p:spPr>
          <a:xfrm>
            <a:off x="1171013" y="304800"/>
            <a:ext cx="6801980" cy="4838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Shallow</a:t>
            </a:r>
            <a:r>
              <a:rPr lang="en" sz="1800">
                <a:solidFill>
                  <a:schemeClr val="dk2"/>
                </a:solidFill>
              </a:rPr>
              <a:t> vs Deep Architecture </a:t>
            </a:r>
            <a:r>
              <a:rPr lang="en" sz="1800">
                <a:solidFill>
                  <a:schemeClr val="dk2"/>
                </a:solidFill>
              </a:rPr>
              <a:t>SGD \ Adam</a:t>
            </a:r>
            <a:br>
              <a:rPr lang="en" sz="1800">
                <a:solidFill>
                  <a:schemeClr val="dk2"/>
                </a:solidFill>
              </a:rPr>
            </a:br>
            <a:endParaRPr sz="1800">
              <a:solidFill>
                <a:schemeClr val="dk2"/>
              </a:solidFill>
            </a:endParaRPr>
          </a:p>
        </p:txBody>
      </p:sp>
      <p:graphicFrame>
        <p:nvGraphicFramePr>
          <p:cNvPr id="79" name="Google Shape;79;p17"/>
          <p:cNvGraphicFramePr/>
          <p:nvPr/>
        </p:nvGraphicFramePr>
        <p:xfrm>
          <a:off x="952500" y="1160500"/>
          <a:ext cx="3000000" cy="3000000"/>
        </p:xfrm>
        <a:graphic>
          <a:graphicData uri="http://schemas.openxmlformats.org/drawingml/2006/table">
            <a:tbl>
              <a:tblPr>
                <a:noFill/>
                <a:tableStyleId>{3FDF4350-286E-4E3B-9980-A1D243117C02}</a:tableStyleId>
              </a:tblPr>
              <a:tblGrid>
                <a:gridCol w="2413000"/>
                <a:gridCol w="2413000"/>
                <a:gridCol w="2413000"/>
              </a:tblGrid>
              <a:tr h="381000">
                <a:tc>
                  <a:txBody>
                    <a:bodyPr/>
                    <a:lstStyle/>
                    <a:p>
                      <a:pPr indent="0" lvl="0" marL="0" rtl="0" algn="l">
                        <a:spcBef>
                          <a:spcPts val="0"/>
                        </a:spcBef>
                        <a:spcAft>
                          <a:spcPts val="0"/>
                        </a:spcAft>
                        <a:buNone/>
                      </a:pPr>
                      <a:r>
                        <a:rPr lang="en" sz="1200"/>
                        <a:t>Architecture / Optimizer</a:t>
                      </a:r>
                      <a:endParaRPr sz="1200"/>
                    </a:p>
                  </a:txBody>
                  <a:tcPr marT="91425" marB="91425" marR="91425" marL="91425"/>
                </a:tc>
                <a:tc>
                  <a:txBody>
                    <a:bodyPr/>
                    <a:lstStyle/>
                    <a:p>
                      <a:pPr indent="0" lvl="0" marL="0" rtl="0" algn="l">
                        <a:spcBef>
                          <a:spcPts val="0"/>
                        </a:spcBef>
                        <a:spcAft>
                          <a:spcPts val="0"/>
                        </a:spcAft>
                        <a:buNone/>
                      </a:pPr>
                      <a:r>
                        <a:rPr lang="en"/>
                        <a:t>SGD</a:t>
                      </a:r>
                      <a:endParaRPr/>
                    </a:p>
                  </a:txBody>
                  <a:tcPr marT="91425" marB="91425" marR="91425" marL="91425"/>
                </a:tc>
                <a:tc>
                  <a:txBody>
                    <a:bodyPr/>
                    <a:lstStyle/>
                    <a:p>
                      <a:pPr indent="0" lvl="0" marL="0" rtl="0" algn="l">
                        <a:spcBef>
                          <a:spcPts val="0"/>
                        </a:spcBef>
                        <a:spcAft>
                          <a:spcPts val="0"/>
                        </a:spcAft>
                        <a:buNone/>
                      </a:pPr>
                      <a:r>
                        <a:rPr lang="en"/>
                        <a:t>Adam</a:t>
                      </a:r>
                      <a:endParaRPr/>
                    </a:p>
                  </a:txBody>
                  <a:tcPr marT="91425" marB="91425" marR="91425" marL="91425"/>
                </a:tc>
              </a:tr>
              <a:tr h="381000">
                <a:tc>
                  <a:txBody>
                    <a:bodyPr/>
                    <a:lstStyle/>
                    <a:p>
                      <a:pPr indent="0" lvl="0" marL="0" rtl="0" algn="l">
                        <a:spcBef>
                          <a:spcPts val="0"/>
                        </a:spcBef>
                        <a:spcAft>
                          <a:spcPts val="0"/>
                        </a:spcAft>
                        <a:buNone/>
                      </a:pPr>
                      <a:r>
                        <a:rPr lang="en"/>
                        <a:t>Shallow</a:t>
                      </a:r>
                      <a:endParaRPr/>
                    </a:p>
                  </a:txBody>
                  <a:tcPr marT="91425" marB="91425" marR="91425" marL="91425"/>
                </a:tc>
                <a:tc>
                  <a:txBody>
                    <a:bodyPr/>
                    <a:lstStyle/>
                    <a:p>
                      <a:pPr indent="0" lvl="0" marL="0" rtl="0" algn="l">
                        <a:spcBef>
                          <a:spcPts val="0"/>
                        </a:spcBef>
                        <a:spcAft>
                          <a:spcPts val="0"/>
                        </a:spcAft>
                        <a:buNone/>
                      </a:pPr>
                      <a:r>
                        <a:rPr lang="en"/>
                        <a:t>0.8008</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Deep</a:t>
                      </a:r>
                      <a:endParaRPr/>
                    </a:p>
                  </a:txBody>
                  <a:tcPr marT="91425" marB="91425" marR="91425" marL="91425"/>
                </a:tc>
                <a:tc>
                  <a:txBody>
                    <a:bodyPr/>
                    <a:lstStyle/>
                    <a:p>
                      <a:pPr indent="0" lvl="0" marL="0" rtl="0" algn="l">
                        <a:spcBef>
                          <a:spcPts val="0"/>
                        </a:spcBef>
                        <a:spcAft>
                          <a:spcPts val="0"/>
                        </a:spcAft>
                        <a:buNone/>
                      </a:pPr>
                      <a:r>
                        <a:rPr lang="en"/>
                        <a:t>0.1832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0.9278</a:t>
                      </a:r>
                      <a:endParaRPr/>
                    </a:p>
                  </a:txBody>
                  <a:tcPr marT="91425" marB="91425" marR="91425" marL="91425"/>
                </a:tc>
              </a:tr>
            </a:tbl>
          </a:graphicData>
        </a:graphic>
      </p:graphicFrame>
      <p:sp>
        <p:nvSpPr>
          <p:cNvPr id="80" name="Google Shape;80;p17"/>
          <p:cNvSpPr txBox="1"/>
          <p:nvPr/>
        </p:nvSpPr>
        <p:spPr>
          <a:xfrm>
            <a:off x="952500" y="785500"/>
            <a:ext cx="72390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Train Final Accuracy</a:t>
            </a:r>
            <a:br>
              <a:rPr lang="en" sz="1600">
                <a:solidFill>
                  <a:schemeClr val="dk2"/>
                </a:solidFill>
              </a:rPr>
            </a:br>
            <a:endParaRPr sz="1600">
              <a:solidFill>
                <a:schemeClr val="dk2"/>
              </a:solidFill>
            </a:endParaRPr>
          </a:p>
        </p:txBody>
      </p:sp>
      <p:graphicFrame>
        <p:nvGraphicFramePr>
          <p:cNvPr id="81" name="Google Shape;81;p17"/>
          <p:cNvGraphicFramePr/>
          <p:nvPr/>
        </p:nvGraphicFramePr>
        <p:xfrm>
          <a:off x="952500" y="3303925"/>
          <a:ext cx="3000000" cy="3000000"/>
        </p:xfrm>
        <a:graphic>
          <a:graphicData uri="http://schemas.openxmlformats.org/drawingml/2006/table">
            <a:tbl>
              <a:tblPr>
                <a:noFill/>
                <a:tableStyleId>{3FDF4350-286E-4E3B-9980-A1D243117C02}</a:tableStyleId>
              </a:tblPr>
              <a:tblGrid>
                <a:gridCol w="2413000"/>
                <a:gridCol w="2413000"/>
                <a:gridCol w="2413000"/>
              </a:tblGrid>
              <a:tr h="381000">
                <a:tc>
                  <a:txBody>
                    <a:bodyPr/>
                    <a:lstStyle/>
                    <a:p>
                      <a:pPr indent="0" lvl="0" marL="0" rtl="0" algn="l">
                        <a:spcBef>
                          <a:spcPts val="0"/>
                        </a:spcBef>
                        <a:spcAft>
                          <a:spcPts val="0"/>
                        </a:spcAft>
                        <a:buNone/>
                      </a:pPr>
                      <a:r>
                        <a:rPr lang="en" sz="1200"/>
                        <a:t>Architecture / Optimizer</a:t>
                      </a:r>
                      <a:endParaRPr sz="1200"/>
                    </a:p>
                  </a:txBody>
                  <a:tcPr marT="91425" marB="91425" marR="91425" marL="91425"/>
                </a:tc>
                <a:tc>
                  <a:txBody>
                    <a:bodyPr/>
                    <a:lstStyle/>
                    <a:p>
                      <a:pPr indent="0" lvl="0" marL="0" rtl="0" algn="l">
                        <a:spcBef>
                          <a:spcPts val="0"/>
                        </a:spcBef>
                        <a:spcAft>
                          <a:spcPts val="0"/>
                        </a:spcAft>
                        <a:buNone/>
                      </a:pPr>
                      <a:r>
                        <a:rPr lang="en"/>
                        <a:t>SGD</a:t>
                      </a:r>
                      <a:endParaRPr/>
                    </a:p>
                  </a:txBody>
                  <a:tcPr marT="91425" marB="91425" marR="91425" marL="91425"/>
                </a:tc>
                <a:tc>
                  <a:txBody>
                    <a:bodyPr/>
                    <a:lstStyle/>
                    <a:p>
                      <a:pPr indent="0" lvl="0" marL="0" rtl="0" algn="l">
                        <a:spcBef>
                          <a:spcPts val="0"/>
                        </a:spcBef>
                        <a:spcAft>
                          <a:spcPts val="0"/>
                        </a:spcAft>
                        <a:buNone/>
                      </a:pPr>
                      <a:r>
                        <a:rPr lang="en"/>
                        <a:t>Adam</a:t>
                      </a:r>
                      <a:endParaRPr/>
                    </a:p>
                  </a:txBody>
                  <a:tcPr marT="91425" marB="91425" marR="91425" marL="91425"/>
                </a:tc>
              </a:tr>
              <a:tr h="381000">
                <a:tc>
                  <a:txBody>
                    <a:bodyPr/>
                    <a:lstStyle/>
                    <a:p>
                      <a:pPr indent="0" lvl="0" marL="0" rtl="0" algn="l">
                        <a:spcBef>
                          <a:spcPts val="0"/>
                        </a:spcBef>
                        <a:spcAft>
                          <a:spcPts val="0"/>
                        </a:spcAft>
                        <a:buNone/>
                      </a:pPr>
                      <a:r>
                        <a:rPr lang="en"/>
                        <a:t>Shallow</a:t>
                      </a:r>
                      <a:endParaRPr/>
                    </a:p>
                  </a:txBody>
                  <a:tcPr marT="91425" marB="91425" marR="91425" marL="91425"/>
                </a:tc>
                <a:tc>
                  <a:txBody>
                    <a:bodyPr/>
                    <a:lstStyle/>
                    <a:p>
                      <a:pPr indent="0" lvl="0" marL="0" rtl="0" algn="l">
                        <a:spcBef>
                          <a:spcPts val="0"/>
                        </a:spcBef>
                        <a:spcAft>
                          <a:spcPts val="0"/>
                        </a:spcAft>
                        <a:buNone/>
                      </a:pPr>
                      <a:r>
                        <a:rPr lang="en"/>
                        <a:t>0.2062</a:t>
                      </a:r>
                      <a:endParaRPr/>
                    </a:p>
                  </a:txBody>
                  <a:tcPr marT="91425" marB="91425" marR="91425" marL="91425"/>
                </a:tc>
                <a:tc>
                  <a:txBody>
                    <a:bodyPr/>
                    <a:lstStyle/>
                    <a:p>
                      <a:pPr indent="0" lvl="0" marL="0" rtl="0" algn="l">
                        <a:spcBef>
                          <a:spcPts val="0"/>
                        </a:spcBef>
                        <a:spcAft>
                          <a:spcPts val="0"/>
                        </a:spcAft>
                        <a:buNone/>
                      </a:pPr>
                      <a:r>
                        <a:rPr lang="en"/>
                        <a:t>0.2437</a:t>
                      </a:r>
                      <a:endParaRPr/>
                    </a:p>
                  </a:txBody>
                  <a:tcPr marT="91425" marB="91425" marR="91425" marL="91425"/>
                </a:tc>
              </a:tr>
              <a:tr h="381000">
                <a:tc>
                  <a:txBody>
                    <a:bodyPr/>
                    <a:lstStyle/>
                    <a:p>
                      <a:pPr indent="0" lvl="0" marL="0" rtl="0" algn="l">
                        <a:spcBef>
                          <a:spcPts val="0"/>
                        </a:spcBef>
                        <a:spcAft>
                          <a:spcPts val="0"/>
                        </a:spcAft>
                        <a:buNone/>
                      </a:pPr>
                      <a:r>
                        <a:rPr lang="en"/>
                        <a:t>Deep</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0.1625</a:t>
                      </a:r>
                      <a:endParaRPr/>
                    </a:p>
                  </a:txBody>
                  <a:tcPr marT="91425" marB="91425" marR="91425" marL="91425"/>
                </a:tc>
                <a:tc>
                  <a:txBody>
                    <a:bodyPr/>
                    <a:lstStyle/>
                    <a:p>
                      <a:pPr indent="0" lvl="0" marL="0" rtl="0" algn="l">
                        <a:spcBef>
                          <a:spcPts val="0"/>
                        </a:spcBef>
                        <a:spcAft>
                          <a:spcPts val="0"/>
                        </a:spcAft>
                        <a:buNone/>
                      </a:pPr>
                      <a:r>
                        <a:rPr lang="en"/>
                        <a:t>0.2938</a:t>
                      </a:r>
                      <a:endParaRPr/>
                    </a:p>
                  </a:txBody>
                  <a:tcPr marT="91425" marB="91425" marR="91425" marL="91425"/>
                </a:tc>
              </a:tr>
            </a:tbl>
          </a:graphicData>
        </a:graphic>
      </p:graphicFrame>
      <p:sp>
        <p:nvSpPr>
          <p:cNvPr id="82" name="Google Shape;82;p17"/>
          <p:cNvSpPr txBox="1"/>
          <p:nvPr/>
        </p:nvSpPr>
        <p:spPr>
          <a:xfrm>
            <a:off x="952500" y="2928925"/>
            <a:ext cx="72390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Valid Final </a:t>
            </a:r>
            <a:r>
              <a:rPr lang="en" sz="1600">
                <a:solidFill>
                  <a:schemeClr val="dk2"/>
                </a:solidFill>
              </a:rPr>
              <a:t>Accuracy</a:t>
            </a:r>
            <a:br>
              <a:rPr lang="en" sz="1600">
                <a:solidFill>
                  <a:schemeClr val="dk2"/>
                </a:solidFill>
              </a:rPr>
            </a:b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Learning Rate Experiments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88" name="Google Shape;88;p18"/>
          <p:cNvSpPr txBox="1"/>
          <p:nvPr/>
        </p:nvSpPr>
        <p:spPr>
          <a:xfrm>
            <a:off x="636250" y="645800"/>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Learning Rate Experiment #1 - </a:t>
            </a:r>
            <a:r>
              <a:rPr lang="en" sz="1600">
                <a:solidFill>
                  <a:schemeClr val="dk2"/>
                </a:solidFill>
              </a:rPr>
              <a:t>Shallow</a:t>
            </a:r>
            <a:r>
              <a:rPr lang="en" sz="1600">
                <a:solidFill>
                  <a:schemeClr val="dk2"/>
                </a:solidFill>
              </a:rPr>
              <a:t> with SGD</a:t>
            </a:r>
            <a:endParaRPr sz="16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graphicFrame>
        <p:nvGraphicFramePr>
          <p:cNvPr id="89" name="Google Shape;89;p18"/>
          <p:cNvGraphicFramePr/>
          <p:nvPr/>
        </p:nvGraphicFramePr>
        <p:xfrm>
          <a:off x="952500" y="1209375"/>
          <a:ext cx="3000000" cy="3000000"/>
        </p:xfrm>
        <a:graphic>
          <a:graphicData uri="http://schemas.openxmlformats.org/drawingml/2006/table">
            <a:tbl>
              <a:tblPr>
                <a:noFill/>
                <a:tableStyleId>{3FDF4350-286E-4E3B-9980-A1D243117C02}</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000"/>
                        <a:t>Metric / </a:t>
                      </a:r>
                      <a:r>
                        <a:rPr lang="en" sz="1000"/>
                        <a:t>Learning</a:t>
                      </a:r>
                      <a:r>
                        <a:rPr lang="en" sz="1000"/>
                        <a:t> Rate</a:t>
                      </a:r>
                      <a:endParaRPr sz="1000"/>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c>
                  <a:txBody>
                    <a:bodyPr/>
                    <a:lstStyle/>
                    <a:p>
                      <a:pPr indent="0" lvl="0" marL="0" rtl="0" algn="l">
                        <a:spcBef>
                          <a:spcPts val="0"/>
                        </a:spcBef>
                        <a:spcAft>
                          <a:spcPts val="0"/>
                        </a:spcAft>
                        <a:buNone/>
                      </a:pPr>
                      <a:r>
                        <a:rPr lang="en"/>
                        <a:t>0.01</a:t>
                      </a:r>
                      <a:endParaRPr/>
                    </a:p>
                  </a:txBody>
                  <a:tcPr marT="91425" marB="91425" marR="91425" marL="91425"/>
                </a:tc>
                <a:tc>
                  <a:txBody>
                    <a:bodyPr/>
                    <a:lstStyle/>
                    <a:p>
                      <a:pPr indent="0" lvl="0" marL="0" rtl="0" algn="l">
                        <a:spcBef>
                          <a:spcPts val="0"/>
                        </a:spcBef>
                        <a:spcAft>
                          <a:spcPts val="0"/>
                        </a:spcAft>
                        <a:buNone/>
                      </a:pPr>
                      <a:r>
                        <a:rPr lang="en"/>
                        <a:t>0.001</a:t>
                      </a:r>
                      <a:endParaRPr/>
                    </a:p>
                  </a:txBody>
                  <a:tcPr marT="91425" marB="91425" marR="91425" marL="91425"/>
                </a:tc>
                <a:tc>
                  <a:txBody>
                    <a:bodyPr/>
                    <a:lstStyle/>
                    <a:p>
                      <a:pPr indent="0" lvl="0" marL="0" rtl="0" algn="l">
                        <a:spcBef>
                          <a:spcPts val="0"/>
                        </a:spcBef>
                        <a:spcAft>
                          <a:spcPts val="0"/>
                        </a:spcAft>
                        <a:buNone/>
                      </a:pPr>
                      <a:r>
                        <a:rPr lang="en"/>
                        <a:t>0.0001</a:t>
                      </a:r>
                      <a:endParaRPr/>
                    </a:p>
                  </a:txBody>
                  <a:tcPr marT="91425" marB="91425" marR="91425" marL="91425"/>
                </a:tc>
              </a:tr>
              <a:tr h="381000">
                <a:tc>
                  <a:txBody>
                    <a:bodyPr/>
                    <a:lstStyle/>
                    <a:p>
                      <a:pPr indent="0" lvl="0" marL="0" rtl="0" algn="l">
                        <a:spcBef>
                          <a:spcPts val="0"/>
                        </a:spcBef>
                        <a:spcAft>
                          <a:spcPts val="0"/>
                        </a:spcAft>
                        <a:buNone/>
                      </a:pPr>
                      <a:r>
                        <a:rPr lang="en" sz="1200"/>
                        <a:t>Final Valid Acc</a:t>
                      </a:r>
                      <a:endParaRPr sz="1200"/>
                    </a:p>
                  </a:txBody>
                  <a:tcPr marT="91425" marB="91425" marR="91425" marL="91425"/>
                </a:tc>
                <a:tc>
                  <a:txBody>
                    <a:bodyPr/>
                    <a:lstStyle/>
                    <a:p>
                      <a:pPr indent="0" lvl="0" marL="0" rtl="0" algn="l">
                        <a:spcBef>
                          <a:spcPts val="0"/>
                        </a:spcBef>
                        <a:spcAft>
                          <a:spcPts val="0"/>
                        </a:spcAft>
                        <a:buNone/>
                      </a:pPr>
                      <a:r>
                        <a:rPr lang="en"/>
                        <a:t>0.1688</a:t>
                      </a:r>
                      <a:endParaRPr/>
                    </a:p>
                  </a:txBody>
                  <a:tcPr marT="91425" marB="91425" marR="91425" marL="91425"/>
                </a:tc>
                <a:tc>
                  <a:txBody>
                    <a:bodyPr/>
                    <a:lstStyle/>
                    <a:p>
                      <a:pPr indent="0" lvl="0" marL="0" rtl="0" algn="l">
                        <a:spcBef>
                          <a:spcPts val="0"/>
                        </a:spcBef>
                        <a:spcAft>
                          <a:spcPts val="0"/>
                        </a:spcAft>
                        <a:buNone/>
                      </a:pPr>
                      <a:r>
                        <a:rPr lang="en"/>
                        <a:t>0.2875</a:t>
                      </a:r>
                      <a:endParaRPr/>
                    </a:p>
                  </a:txBody>
                  <a:tcPr marT="91425" marB="91425" marR="91425" marL="91425"/>
                </a:tc>
                <a:tc>
                  <a:txBody>
                    <a:bodyPr/>
                    <a:lstStyle/>
                    <a:p>
                      <a:pPr indent="0" lvl="0" marL="0" rtl="0" algn="l">
                        <a:spcBef>
                          <a:spcPts val="0"/>
                        </a:spcBef>
                        <a:spcAft>
                          <a:spcPts val="0"/>
                        </a:spcAft>
                        <a:buNone/>
                      </a:pPr>
                      <a:r>
                        <a:rPr lang="en"/>
                        <a:t>0.2125</a:t>
                      </a:r>
                      <a:endParaRPr/>
                    </a:p>
                  </a:txBody>
                  <a:tcPr marT="91425" marB="91425" marR="91425" marL="91425"/>
                </a:tc>
                <a:tc>
                  <a:txBody>
                    <a:bodyPr/>
                    <a:lstStyle/>
                    <a:p>
                      <a:pPr indent="0" lvl="0" marL="0" rtl="0" algn="l">
                        <a:spcBef>
                          <a:spcPts val="0"/>
                        </a:spcBef>
                        <a:spcAft>
                          <a:spcPts val="0"/>
                        </a:spcAft>
                        <a:buNone/>
                      </a:pPr>
                      <a:r>
                        <a:rPr lang="en"/>
                        <a:t>0.2250</a:t>
                      </a:r>
                      <a:endParaRPr/>
                    </a:p>
                  </a:txBody>
                  <a:tcPr marT="91425" marB="91425" marR="91425" marL="91425"/>
                </a:tc>
              </a:tr>
            </a:tbl>
          </a:graphicData>
        </a:graphic>
      </p:graphicFrame>
      <p:sp>
        <p:nvSpPr>
          <p:cNvPr id="90" name="Google Shape;90;p18"/>
          <p:cNvSpPr txBox="1"/>
          <p:nvPr/>
        </p:nvSpPr>
        <p:spPr>
          <a:xfrm>
            <a:off x="671725" y="2571750"/>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Learning Rate Experiment #2 - Shallow with Adam</a:t>
            </a:r>
            <a:endParaRPr sz="16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graphicFrame>
        <p:nvGraphicFramePr>
          <p:cNvPr id="91" name="Google Shape;91;p18"/>
          <p:cNvGraphicFramePr/>
          <p:nvPr/>
        </p:nvGraphicFramePr>
        <p:xfrm>
          <a:off x="987975" y="3135325"/>
          <a:ext cx="3000000" cy="3000000"/>
        </p:xfrm>
        <a:graphic>
          <a:graphicData uri="http://schemas.openxmlformats.org/drawingml/2006/table">
            <a:tbl>
              <a:tblPr>
                <a:noFill/>
                <a:tableStyleId>{3FDF4350-286E-4E3B-9980-A1D243117C02}</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000"/>
                        <a:t>Metric / Learning Rate</a:t>
                      </a:r>
                      <a:endParaRPr sz="1000"/>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c>
                  <a:txBody>
                    <a:bodyPr/>
                    <a:lstStyle/>
                    <a:p>
                      <a:pPr indent="0" lvl="0" marL="0" rtl="0" algn="l">
                        <a:spcBef>
                          <a:spcPts val="0"/>
                        </a:spcBef>
                        <a:spcAft>
                          <a:spcPts val="0"/>
                        </a:spcAft>
                        <a:buNone/>
                      </a:pPr>
                      <a:r>
                        <a:rPr lang="en"/>
                        <a:t>0.01</a:t>
                      </a:r>
                      <a:endParaRPr/>
                    </a:p>
                  </a:txBody>
                  <a:tcPr marT="91425" marB="91425" marR="91425" marL="91425"/>
                </a:tc>
                <a:tc>
                  <a:txBody>
                    <a:bodyPr/>
                    <a:lstStyle/>
                    <a:p>
                      <a:pPr indent="0" lvl="0" marL="0" rtl="0" algn="l">
                        <a:spcBef>
                          <a:spcPts val="0"/>
                        </a:spcBef>
                        <a:spcAft>
                          <a:spcPts val="0"/>
                        </a:spcAft>
                        <a:buNone/>
                      </a:pPr>
                      <a:r>
                        <a:rPr lang="en"/>
                        <a:t>0.001</a:t>
                      </a:r>
                      <a:endParaRPr/>
                    </a:p>
                  </a:txBody>
                  <a:tcPr marT="91425" marB="91425" marR="91425" marL="91425"/>
                </a:tc>
                <a:tc>
                  <a:txBody>
                    <a:bodyPr/>
                    <a:lstStyle/>
                    <a:p>
                      <a:pPr indent="0" lvl="0" marL="0" rtl="0" algn="l">
                        <a:spcBef>
                          <a:spcPts val="0"/>
                        </a:spcBef>
                        <a:spcAft>
                          <a:spcPts val="0"/>
                        </a:spcAft>
                        <a:buNone/>
                      </a:pPr>
                      <a:r>
                        <a:rPr lang="en"/>
                        <a:t>0.0001</a:t>
                      </a:r>
                      <a:endParaRPr/>
                    </a:p>
                  </a:txBody>
                  <a:tcPr marT="91425" marB="91425" marR="91425" marL="91425"/>
                </a:tc>
              </a:tr>
              <a:tr h="381000">
                <a:tc>
                  <a:txBody>
                    <a:bodyPr/>
                    <a:lstStyle/>
                    <a:p>
                      <a:pPr indent="0" lvl="0" marL="0" rtl="0" algn="l">
                        <a:spcBef>
                          <a:spcPts val="0"/>
                        </a:spcBef>
                        <a:spcAft>
                          <a:spcPts val="0"/>
                        </a:spcAft>
                        <a:buNone/>
                      </a:pPr>
                      <a:r>
                        <a:rPr lang="en" sz="1200"/>
                        <a:t>Final Valid Acc</a:t>
                      </a:r>
                      <a:endParaRPr sz="1200"/>
                    </a:p>
                  </a:txBody>
                  <a:tcPr marT="91425" marB="91425" marR="91425" marL="91425"/>
                </a:tc>
                <a:tc>
                  <a:txBody>
                    <a:bodyPr/>
                    <a:lstStyle/>
                    <a:p>
                      <a:pPr indent="0" lvl="0" marL="0" rtl="0" algn="l">
                        <a:spcBef>
                          <a:spcPts val="0"/>
                        </a:spcBef>
                        <a:spcAft>
                          <a:spcPts val="0"/>
                        </a:spcAft>
                        <a:buNone/>
                      </a:pPr>
                      <a:r>
                        <a:rPr lang="en"/>
                        <a:t>0.15</a:t>
                      </a:r>
                      <a:endParaRPr/>
                    </a:p>
                  </a:txBody>
                  <a:tcPr marT="91425" marB="91425" marR="91425" marL="91425"/>
                </a:tc>
                <a:tc>
                  <a:txBody>
                    <a:bodyPr/>
                    <a:lstStyle/>
                    <a:p>
                      <a:pPr indent="0" lvl="0" marL="0" rtl="0" algn="l">
                        <a:spcBef>
                          <a:spcPts val="0"/>
                        </a:spcBef>
                        <a:spcAft>
                          <a:spcPts val="0"/>
                        </a:spcAft>
                        <a:buNone/>
                      </a:pPr>
                      <a:r>
                        <a:rPr lang="en"/>
                        <a:t>0.1562</a:t>
                      </a:r>
                      <a:endParaRPr/>
                    </a:p>
                  </a:txBody>
                  <a:tcPr marT="91425" marB="91425" marR="91425" marL="91425"/>
                </a:tc>
                <a:tc>
                  <a:txBody>
                    <a:bodyPr/>
                    <a:lstStyle/>
                    <a:p>
                      <a:pPr indent="0" lvl="0" marL="0" rtl="0" algn="l">
                        <a:spcBef>
                          <a:spcPts val="0"/>
                        </a:spcBef>
                        <a:spcAft>
                          <a:spcPts val="0"/>
                        </a:spcAft>
                        <a:buNone/>
                      </a:pPr>
                      <a:r>
                        <a:rPr lang="en"/>
                        <a:t>0.1562</a:t>
                      </a:r>
                      <a:endParaRPr/>
                    </a:p>
                  </a:txBody>
                  <a:tcPr marT="91425" marB="91425" marR="91425" marL="91425"/>
                </a:tc>
                <a:tc>
                  <a:txBody>
                    <a:bodyPr/>
                    <a:lstStyle/>
                    <a:p>
                      <a:pPr indent="0" lvl="0" marL="0" rtl="0" algn="l">
                        <a:spcBef>
                          <a:spcPts val="0"/>
                        </a:spcBef>
                        <a:spcAft>
                          <a:spcPts val="0"/>
                        </a:spcAft>
                        <a:buNone/>
                      </a:pPr>
                      <a:r>
                        <a:rPr lang="en"/>
                        <a:t>0.2687</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9"/>
          <p:cNvPicPr preferRelativeResize="0"/>
          <p:nvPr/>
        </p:nvPicPr>
        <p:blipFill>
          <a:blip r:embed="rId3">
            <a:alphaModFix/>
          </a:blip>
          <a:stretch>
            <a:fillRect/>
          </a:stretch>
        </p:blipFill>
        <p:spPr>
          <a:xfrm>
            <a:off x="1893563" y="1380725"/>
            <a:ext cx="5356876" cy="3812350"/>
          </a:xfrm>
          <a:prstGeom prst="rect">
            <a:avLst/>
          </a:prstGeom>
          <a:noFill/>
          <a:ln>
            <a:noFill/>
          </a:ln>
        </p:spPr>
      </p:pic>
      <p:sp>
        <p:nvSpPr>
          <p:cNvPr id="97" name="Google Shape;97;p19"/>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Learning Rate Experiment - Shallow SGD/Adam Results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98" name="Google Shape;98;p19"/>
          <p:cNvSpPr txBox="1"/>
          <p:nvPr/>
        </p:nvSpPr>
        <p:spPr>
          <a:xfrm>
            <a:off x="835225" y="561513"/>
            <a:ext cx="7473600" cy="6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Out of the tested learning rate values, 0.0001 showed the best results. </a:t>
            </a:r>
            <a:r>
              <a:rPr lang="en">
                <a:solidFill>
                  <a:schemeClr val="dk2"/>
                </a:solidFill>
              </a:rPr>
              <a:t>Showing almost perfect accuracy on the training set and the highest accuracy on the validation set. </a:t>
            </a:r>
            <a:endParaRPr>
              <a:solidFill>
                <a:schemeClr val="dk2"/>
              </a:solidFill>
            </a:endParaRPr>
          </a:p>
          <a:p>
            <a:pPr indent="0" lvl="0" marL="0" rtl="0" algn="l">
              <a:spcBef>
                <a:spcPts val="0"/>
              </a:spcBef>
              <a:spcAft>
                <a:spcPts val="0"/>
              </a:spcAft>
              <a:buNone/>
            </a:pPr>
            <a:br>
              <a:rPr lang="en" sz="1800">
                <a:solidFill>
                  <a:schemeClr val="dk2"/>
                </a:solidFill>
              </a:rPr>
            </a:b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Learning Rate Experiments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04" name="Google Shape;104;p20"/>
          <p:cNvSpPr txBox="1"/>
          <p:nvPr/>
        </p:nvSpPr>
        <p:spPr>
          <a:xfrm>
            <a:off x="620675" y="501525"/>
            <a:ext cx="7473600" cy="79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Learning Rate Experiment #2 - Deep with Adam</a:t>
            </a:r>
            <a:endParaRPr sz="1600">
              <a:solidFill>
                <a:schemeClr val="dk2"/>
              </a:solidFill>
            </a:endParaRPr>
          </a:p>
          <a:p>
            <a:pPr indent="0" lvl="0" marL="0" rtl="0" algn="ctr">
              <a:spcBef>
                <a:spcPts val="0"/>
              </a:spcBef>
              <a:spcAft>
                <a:spcPts val="0"/>
              </a:spcAft>
              <a:buNone/>
            </a:pPr>
            <a:r>
              <a:rPr lang="en" sz="1200">
                <a:solidFill>
                  <a:schemeClr val="dk2"/>
                </a:solidFill>
              </a:rPr>
              <a:t>Given </a:t>
            </a:r>
            <a:r>
              <a:rPr lang="en" sz="1200">
                <a:solidFill>
                  <a:schemeClr val="dk2"/>
                </a:solidFill>
              </a:rPr>
              <a:t>that</a:t>
            </a:r>
            <a:r>
              <a:rPr lang="en" sz="1200">
                <a:solidFill>
                  <a:schemeClr val="dk2"/>
                </a:solidFill>
              </a:rPr>
              <a:t> the Deep CNN with SGD optimizer was unable to learn, I will evaluate different learning rates exclusively with the Adam Optimizer</a:t>
            </a:r>
            <a:endParaRPr sz="1200">
              <a:solidFill>
                <a:schemeClr val="dk2"/>
              </a:solidFill>
            </a:endParaRPr>
          </a:p>
          <a:p>
            <a:pPr indent="0" lvl="0" marL="0" rtl="0" algn="ctr">
              <a:spcBef>
                <a:spcPts val="0"/>
              </a:spcBef>
              <a:spcAft>
                <a:spcPts val="0"/>
              </a:spcAft>
              <a:buNone/>
            </a:pPr>
            <a:r>
              <a:t/>
            </a:r>
            <a:endParaRPr sz="16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graphicFrame>
        <p:nvGraphicFramePr>
          <p:cNvPr id="105" name="Google Shape;105;p20"/>
          <p:cNvGraphicFramePr/>
          <p:nvPr/>
        </p:nvGraphicFramePr>
        <p:xfrm>
          <a:off x="886425" y="1368075"/>
          <a:ext cx="3000000" cy="3000000"/>
        </p:xfrm>
        <a:graphic>
          <a:graphicData uri="http://schemas.openxmlformats.org/drawingml/2006/table">
            <a:tbl>
              <a:tblPr>
                <a:noFill/>
                <a:tableStyleId>{3FDF4350-286E-4E3B-9980-A1D243117C02}</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000"/>
                        <a:t>Metric / Learning Rate</a:t>
                      </a:r>
                      <a:endParaRPr sz="1000"/>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c>
                  <a:txBody>
                    <a:bodyPr/>
                    <a:lstStyle/>
                    <a:p>
                      <a:pPr indent="0" lvl="0" marL="0" rtl="0" algn="l">
                        <a:spcBef>
                          <a:spcPts val="0"/>
                        </a:spcBef>
                        <a:spcAft>
                          <a:spcPts val="0"/>
                        </a:spcAft>
                        <a:buNone/>
                      </a:pPr>
                      <a:r>
                        <a:rPr lang="en"/>
                        <a:t>0.01</a:t>
                      </a:r>
                      <a:endParaRPr/>
                    </a:p>
                  </a:txBody>
                  <a:tcPr marT="91425" marB="91425" marR="91425" marL="91425"/>
                </a:tc>
                <a:tc>
                  <a:txBody>
                    <a:bodyPr/>
                    <a:lstStyle/>
                    <a:p>
                      <a:pPr indent="0" lvl="0" marL="0" rtl="0" algn="l">
                        <a:spcBef>
                          <a:spcPts val="0"/>
                        </a:spcBef>
                        <a:spcAft>
                          <a:spcPts val="0"/>
                        </a:spcAft>
                        <a:buNone/>
                      </a:pPr>
                      <a:r>
                        <a:rPr lang="en"/>
                        <a:t>0.001</a:t>
                      </a:r>
                      <a:endParaRPr/>
                    </a:p>
                  </a:txBody>
                  <a:tcPr marT="91425" marB="91425" marR="91425" marL="91425"/>
                </a:tc>
                <a:tc>
                  <a:txBody>
                    <a:bodyPr/>
                    <a:lstStyle/>
                    <a:p>
                      <a:pPr indent="0" lvl="0" marL="0" rtl="0" algn="l">
                        <a:spcBef>
                          <a:spcPts val="0"/>
                        </a:spcBef>
                        <a:spcAft>
                          <a:spcPts val="0"/>
                        </a:spcAft>
                        <a:buNone/>
                      </a:pPr>
                      <a:r>
                        <a:rPr lang="en"/>
                        <a:t>0.0001</a:t>
                      </a:r>
                      <a:endParaRPr/>
                    </a:p>
                  </a:txBody>
                  <a:tcPr marT="91425" marB="91425" marR="91425" marL="91425"/>
                </a:tc>
              </a:tr>
              <a:tr h="381000">
                <a:tc>
                  <a:txBody>
                    <a:bodyPr/>
                    <a:lstStyle/>
                    <a:p>
                      <a:pPr indent="0" lvl="0" marL="0" rtl="0" algn="l">
                        <a:spcBef>
                          <a:spcPts val="0"/>
                        </a:spcBef>
                        <a:spcAft>
                          <a:spcPts val="0"/>
                        </a:spcAft>
                        <a:buNone/>
                      </a:pPr>
                      <a:r>
                        <a:rPr lang="en" sz="1200"/>
                        <a:t>Final Valid Acc</a:t>
                      </a:r>
                      <a:endParaRPr sz="1200"/>
                    </a:p>
                  </a:txBody>
                  <a:tcPr marT="91425" marB="91425" marR="91425" marL="91425"/>
                </a:tc>
                <a:tc>
                  <a:txBody>
                    <a:bodyPr/>
                    <a:lstStyle/>
                    <a:p>
                      <a:pPr indent="0" lvl="0" marL="0" rtl="0" algn="l">
                        <a:spcBef>
                          <a:spcPts val="0"/>
                        </a:spcBef>
                        <a:spcAft>
                          <a:spcPts val="0"/>
                        </a:spcAft>
                        <a:buNone/>
                      </a:pPr>
                      <a:r>
                        <a:rPr lang="en"/>
                        <a:t>0.1562</a:t>
                      </a:r>
                      <a:endParaRPr/>
                    </a:p>
                  </a:txBody>
                  <a:tcPr marT="91425" marB="91425" marR="91425" marL="91425"/>
                </a:tc>
                <a:tc>
                  <a:txBody>
                    <a:bodyPr/>
                    <a:lstStyle/>
                    <a:p>
                      <a:pPr indent="0" lvl="0" marL="0" rtl="0" algn="l">
                        <a:spcBef>
                          <a:spcPts val="0"/>
                        </a:spcBef>
                        <a:spcAft>
                          <a:spcPts val="0"/>
                        </a:spcAft>
                        <a:buNone/>
                      </a:pPr>
                      <a:r>
                        <a:rPr lang="en"/>
                        <a:t>0.1562</a:t>
                      </a:r>
                      <a:endParaRPr/>
                    </a:p>
                  </a:txBody>
                  <a:tcPr marT="91425" marB="91425" marR="91425" marL="91425"/>
                </a:tc>
                <a:tc>
                  <a:txBody>
                    <a:bodyPr/>
                    <a:lstStyle/>
                    <a:p>
                      <a:pPr indent="0" lvl="0" marL="0" rtl="0" algn="l">
                        <a:spcBef>
                          <a:spcPts val="0"/>
                        </a:spcBef>
                        <a:spcAft>
                          <a:spcPts val="0"/>
                        </a:spcAft>
                        <a:buNone/>
                      </a:pPr>
                      <a:r>
                        <a:rPr lang="en"/>
                        <a:t>0.3</a:t>
                      </a:r>
                      <a:endParaRPr/>
                    </a:p>
                  </a:txBody>
                  <a:tcPr marT="91425" marB="91425" marR="91425" marL="91425"/>
                </a:tc>
                <a:tc>
                  <a:txBody>
                    <a:bodyPr/>
                    <a:lstStyle/>
                    <a:p>
                      <a:pPr indent="0" lvl="0" marL="0" rtl="0" algn="l">
                        <a:spcBef>
                          <a:spcPts val="0"/>
                        </a:spcBef>
                        <a:spcAft>
                          <a:spcPts val="0"/>
                        </a:spcAft>
                        <a:buNone/>
                      </a:pPr>
                      <a:r>
                        <a:rPr lang="en"/>
                        <a:t>0.3063</a:t>
                      </a:r>
                      <a:endParaRPr/>
                    </a:p>
                  </a:txBody>
                  <a:tcPr marT="91425" marB="91425" marR="91425" marL="91425"/>
                </a:tc>
              </a:tr>
            </a:tbl>
          </a:graphicData>
        </a:graphic>
      </p:graphicFrame>
      <p:pic>
        <p:nvPicPr>
          <p:cNvPr id="106" name="Google Shape;106;p20"/>
          <p:cNvPicPr preferRelativeResize="0"/>
          <p:nvPr/>
        </p:nvPicPr>
        <p:blipFill>
          <a:blip r:embed="rId3">
            <a:alphaModFix/>
          </a:blip>
          <a:stretch>
            <a:fillRect/>
          </a:stretch>
        </p:blipFill>
        <p:spPr>
          <a:xfrm>
            <a:off x="886425" y="2160475"/>
            <a:ext cx="4206524" cy="2983026"/>
          </a:xfrm>
          <a:prstGeom prst="rect">
            <a:avLst/>
          </a:prstGeom>
          <a:noFill/>
          <a:ln>
            <a:noFill/>
          </a:ln>
        </p:spPr>
      </p:pic>
      <p:sp>
        <p:nvSpPr>
          <p:cNvPr id="107" name="Google Shape;107;p20"/>
          <p:cNvSpPr txBox="1"/>
          <p:nvPr/>
        </p:nvSpPr>
        <p:spPr>
          <a:xfrm>
            <a:off x="5123300" y="2332975"/>
            <a:ext cx="3989400" cy="281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Results and Summary</a:t>
            </a:r>
            <a:endParaRPr sz="1600">
              <a:solidFill>
                <a:schemeClr val="dk2"/>
              </a:solidFill>
            </a:endParaRPr>
          </a:p>
          <a:p>
            <a:pPr indent="0" lvl="0" marL="0" rtl="0" algn="l">
              <a:spcBef>
                <a:spcPts val="0"/>
              </a:spcBef>
              <a:spcAft>
                <a:spcPts val="0"/>
              </a:spcAft>
              <a:buNone/>
            </a:pPr>
            <a:r>
              <a:rPr lang="en" sz="1200">
                <a:solidFill>
                  <a:srgbClr val="666666"/>
                </a:solidFill>
              </a:rPr>
              <a:t>Based on the experiments, the optimal configuration is the Deep CNN with Adam optimizer at a learning rate of 0.0001. This setup achieved strong training accuracy while maintaining reasonable performance on the validation set. All subsequent experiments will use this architecture.</a:t>
            </a:r>
            <a:endParaRPr sz="1800">
              <a:solidFill>
                <a:srgbClr val="66666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#3</a:t>
            </a:r>
            <a:r>
              <a:rPr lang="en" sz="1800">
                <a:solidFill>
                  <a:schemeClr val="dk2"/>
                </a:solidFill>
              </a:rPr>
              <a:t> - Batch Sizes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13" name="Google Shape;113;p21"/>
          <p:cNvSpPr txBox="1"/>
          <p:nvPr/>
        </p:nvSpPr>
        <p:spPr>
          <a:xfrm>
            <a:off x="636250" y="689100"/>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Test the best model found in the previous steps with </a:t>
            </a:r>
            <a:r>
              <a:rPr lang="en">
                <a:solidFill>
                  <a:schemeClr val="dk2"/>
                </a:solidFill>
              </a:rPr>
              <a:t>different batch sizes [16, 32, 64, 128]</a:t>
            </a:r>
            <a:endParaRPr>
              <a:solidFill>
                <a:schemeClr val="dk2"/>
              </a:solidFill>
            </a:endParaRPr>
          </a:p>
          <a:p>
            <a:pPr indent="0" lvl="0" marL="0" rtl="0" algn="ctr">
              <a:spcBef>
                <a:spcPts val="0"/>
              </a:spcBef>
              <a:spcAft>
                <a:spcPts val="0"/>
              </a:spcAft>
              <a:buNone/>
            </a:pPr>
            <a:br>
              <a:rPr lang="en">
                <a:solidFill>
                  <a:schemeClr val="dk2"/>
                </a:solidFill>
              </a:rPr>
            </a:br>
            <a:endParaRPr>
              <a:solidFill>
                <a:schemeClr val="dk2"/>
              </a:solidFill>
            </a:endParaRPr>
          </a:p>
        </p:txBody>
      </p:sp>
      <p:pic>
        <p:nvPicPr>
          <p:cNvPr id="114" name="Google Shape;114;p21"/>
          <p:cNvPicPr preferRelativeResize="0"/>
          <p:nvPr/>
        </p:nvPicPr>
        <p:blipFill>
          <a:blip r:embed="rId3">
            <a:alphaModFix/>
          </a:blip>
          <a:stretch>
            <a:fillRect/>
          </a:stretch>
        </p:blipFill>
        <p:spPr>
          <a:xfrm>
            <a:off x="58625" y="1129950"/>
            <a:ext cx="5322763" cy="3774601"/>
          </a:xfrm>
          <a:prstGeom prst="rect">
            <a:avLst/>
          </a:prstGeom>
          <a:noFill/>
          <a:ln>
            <a:noFill/>
          </a:ln>
        </p:spPr>
      </p:pic>
      <p:sp>
        <p:nvSpPr>
          <p:cNvPr id="115" name="Google Shape;115;p21"/>
          <p:cNvSpPr txBox="1"/>
          <p:nvPr/>
        </p:nvSpPr>
        <p:spPr>
          <a:xfrm>
            <a:off x="5381400" y="1380750"/>
            <a:ext cx="3731100" cy="35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Results</a:t>
            </a:r>
            <a:r>
              <a:rPr lang="en">
                <a:solidFill>
                  <a:schemeClr val="dk2"/>
                </a:solidFill>
              </a:rPr>
              <a:t>:</a:t>
            </a:r>
            <a:br>
              <a:rPr lang="en">
                <a:solidFill>
                  <a:schemeClr val="dk2"/>
                </a:solidFill>
              </a:rPr>
            </a:br>
            <a:r>
              <a:rPr lang="en">
                <a:solidFill>
                  <a:schemeClr val="dk2"/>
                </a:solidFill>
              </a:rPr>
              <a:t>Although batch size 16 produced the best accuracy on training and validation sets, the notably high validation loss indicates risk of overfitting during longer training periods. Batch size 32 offers a better tradeoff, balancing good accuracy with reasonable loss values.</a:t>
            </a:r>
            <a:endParaRPr>
              <a:solidFill>
                <a:schemeClr val="dk2"/>
              </a:solidFill>
            </a:endParaRPr>
          </a:p>
          <a:p>
            <a:pPr indent="0" lvl="0" marL="0" rtl="0" algn="ctr">
              <a:spcBef>
                <a:spcPts val="0"/>
              </a:spcBef>
              <a:spcAft>
                <a:spcPts val="0"/>
              </a:spcAft>
              <a:buNone/>
            </a:pPr>
            <a:br>
              <a:rPr lang="en">
                <a:solidFill>
                  <a:schemeClr val="dk2"/>
                </a:solidFill>
              </a:rPr>
            </a:b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#4 - Batch Normalization</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pic>
        <p:nvPicPr>
          <p:cNvPr id="121" name="Google Shape;121;p22"/>
          <p:cNvPicPr preferRelativeResize="0"/>
          <p:nvPr/>
        </p:nvPicPr>
        <p:blipFill>
          <a:blip r:embed="rId3">
            <a:alphaModFix/>
          </a:blip>
          <a:stretch>
            <a:fillRect/>
          </a:stretch>
        </p:blipFill>
        <p:spPr>
          <a:xfrm>
            <a:off x="152400" y="602400"/>
            <a:ext cx="8839200" cy="3118220"/>
          </a:xfrm>
          <a:prstGeom prst="rect">
            <a:avLst/>
          </a:prstGeom>
          <a:noFill/>
          <a:ln>
            <a:noFill/>
          </a:ln>
        </p:spPr>
      </p:pic>
      <p:sp>
        <p:nvSpPr>
          <p:cNvPr id="122" name="Google Shape;122;p22"/>
          <p:cNvSpPr txBox="1"/>
          <p:nvPr/>
        </p:nvSpPr>
        <p:spPr>
          <a:xfrm>
            <a:off x="636250" y="4079625"/>
            <a:ext cx="81300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Batch normalization failed to demonstrate any improvement over training without it.</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#5 - Regularization</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28" name="Google Shape;128;p23"/>
          <p:cNvSpPr txBox="1"/>
          <p:nvPr/>
        </p:nvSpPr>
        <p:spPr>
          <a:xfrm>
            <a:off x="636250" y="5520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Drop Out - Test 0.25, 0.5, 0.7 probabilities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pic>
        <p:nvPicPr>
          <p:cNvPr id="129" name="Google Shape;129;p23"/>
          <p:cNvPicPr preferRelativeResize="0"/>
          <p:nvPr/>
        </p:nvPicPr>
        <p:blipFill>
          <a:blip r:embed="rId3">
            <a:alphaModFix/>
          </a:blip>
          <a:stretch>
            <a:fillRect/>
          </a:stretch>
        </p:blipFill>
        <p:spPr>
          <a:xfrm>
            <a:off x="0" y="1086650"/>
            <a:ext cx="5516056" cy="3911674"/>
          </a:xfrm>
          <a:prstGeom prst="rect">
            <a:avLst/>
          </a:prstGeom>
          <a:noFill/>
          <a:ln>
            <a:noFill/>
          </a:ln>
        </p:spPr>
      </p:pic>
      <p:sp>
        <p:nvSpPr>
          <p:cNvPr id="130" name="Google Shape;130;p23"/>
          <p:cNvSpPr txBox="1"/>
          <p:nvPr/>
        </p:nvSpPr>
        <p:spPr>
          <a:xfrm>
            <a:off x="5516050" y="1301375"/>
            <a:ext cx="3627900" cy="35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Results</a:t>
            </a:r>
            <a:r>
              <a:rPr lang="en">
                <a:solidFill>
                  <a:schemeClr val="dk2"/>
                </a:solidFill>
              </a:rPr>
              <a:t>:</a:t>
            </a:r>
            <a:br>
              <a:rPr lang="en">
                <a:solidFill>
                  <a:schemeClr val="dk2"/>
                </a:solidFill>
              </a:rPr>
            </a:br>
            <a:r>
              <a:rPr lang="en" sz="1200">
                <a:solidFill>
                  <a:srgbClr val="434343"/>
                </a:solidFill>
              </a:rPr>
              <a:t>Although Neuron Drop Out largely eliminated overfitting, it resulted in extremely low accuracy on both training and test sets - in some cases performing worse than random guessing (1/7 = 0.142). The best model remains Deep CNN, Adam optimizer with 0.0001 lr and 32 batch size.</a:t>
            </a:r>
            <a:br>
              <a:rPr lang="en">
                <a:solidFill>
                  <a:schemeClr val="dk2"/>
                </a:solidFill>
              </a:rPr>
            </a:br>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#5 - Regularization</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36" name="Google Shape;136;p24"/>
          <p:cNvSpPr txBox="1"/>
          <p:nvPr/>
        </p:nvSpPr>
        <p:spPr>
          <a:xfrm>
            <a:off x="636250" y="5520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Weight Decay </a:t>
            </a:r>
            <a:r>
              <a:rPr lang="en" sz="1800">
                <a:solidFill>
                  <a:schemeClr val="dk2"/>
                </a:solidFill>
              </a:rPr>
              <a:t>- Test 0.01, 0.001, 0.0001, 0.00001 probabilities</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37" name="Google Shape;137;p24"/>
          <p:cNvSpPr txBox="1"/>
          <p:nvPr/>
        </p:nvSpPr>
        <p:spPr>
          <a:xfrm>
            <a:off x="5582450" y="1301375"/>
            <a:ext cx="3561600" cy="35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Results</a:t>
            </a:r>
            <a:r>
              <a:rPr lang="en">
                <a:solidFill>
                  <a:schemeClr val="dk2"/>
                </a:solidFill>
              </a:rPr>
              <a:t>:</a:t>
            </a:r>
            <a:br>
              <a:rPr lang="en">
                <a:solidFill>
                  <a:schemeClr val="dk2"/>
                </a:solidFill>
              </a:rPr>
            </a:br>
            <a:r>
              <a:rPr lang="en" sz="1200">
                <a:solidFill>
                  <a:srgbClr val="434343"/>
                </a:solidFill>
              </a:rPr>
              <a:t>Weight Decay similarly to Neuron Drop Out largely eliminated overfitting, but it did not show a </a:t>
            </a:r>
            <a:r>
              <a:rPr lang="en" sz="1200">
                <a:solidFill>
                  <a:srgbClr val="434343"/>
                </a:solidFill>
              </a:rPr>
              <a:t>significant </a:t>
            </a:r>
            <a:r>
              <a:rPr lang="en" sz="1200">
                <a:solidFill>
                  <a:srgbClr val="434343"/>
                </a:solidFill>
              </a:rPr>
              <a:t>gain in accuracy or narrowing the overfitting gap. The best model remains Deep CNN, Adam optimizer with 0.0001 lr and 32 batch size.</a:t>
            </a:r>
            <a:br>
              <a:rPr lang="en">
                <a:solidFill>
                  <a:srgbClr val="434343"/>
                </a:solidFill>
              </a:rPr>
            </a:br>
            <a:endParaRPr>
              <a:solidFill>
                <a:srgbClr val="434343"/>
              </a:solidFill>
            </a:endParaRPr>
          </a:p>
        </p:txBody>
      </p:sp>
      <p:pic>
        <p:nvPicPr>
          <p:cNvPr id="138" name="Google Shape;138;p24"/>
          <p:cNvPicPr preferRelativeResize="0"/>
          <p:nvPr/>
        </p:nvPicPr>
        <p:blipFill>
          <a:blip r:embed="rId3">
            <a:alphaModFix/>
          </a:blip>
          <a:stretch>
            <a:fillRect/>
          </a:stretch>
        </p:blipFill>
        <p:spPr>
          <a:xfrm>
            <a:off x="0" y="1065000"/>
            <a:ext cx="5582450" cy="3958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Transfer Learning - Pre-Train on the CIFAR-10 data set</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pic>
        <p:nvPicPr>
          <p:cNvPr id="144" name="Google Shape;144;p25"/>
          <p:cNvPicPr preferRelativeResize="0"/>
          <p:nvPr/>
        </p:nvPicPr>
        <p:blipFill>
          <a:blip r:embed="rId3">
            <a:alphaModFix/>
          </a:blip>
          <a:stretch>
            <a:fillRect/>
          </a:stretch>
        </p:blipFill>
        <p:spPr>
          <a:xfrm>
            <a:off x="175675" y="1835150"/>
            <a:ext cx="8792650" cy="3115975"/>
          </a:xfrm>
          <a:prstGeom prst="rect">
            <a:avLst/>
          </a:prstGeom>
          <a:noFill/>
          <a:ln>
            <a:noFill/>
          </a:ln>
        </p:spPr>
      </p:pic>
      <p:sp>
        <p:nvSpPr>
          <p:cNvPr id="145" name="Google Shape;145;p25"/>
          <p:cNvSpPr txBox="1"/>
          <p:nvPr/>
        </p:nvSpPr>
        <p:spPr>
          <a:xfrm>
            <a:off x="835200" y="566450"/>
            <a:ext cx="7473600" cy="12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Due to time and resource </a:t>
            </a:r>
            <a:r>
              <a:rPr lang="en">
                <a:solidFill>
                  <a:schemeClr val="dk2"/>
                </a:solidFill>
              </a:rPr>
              <a:t>constraints</a:t>
            </a:r>
            <a:r>
              <a:rPr lang="en">
                <a:solidFill>
                  <a:schemeClr val="dk2"/>
                </a:solidFill>
              </a:rPr>
              <a:t>, trained the best model and hyperparameters found in previous experiments for only 4 epochs on the CIFAR-10 data set.</a:t>
            </a:r>
            <a:br>
              <a:rPr lang="en">
                <a:solidFill>
                  <a:schemeClr val="dk2"/>
                </a:solidFill>
              </a:rPr>
            </a:br>
            <a:br>
              <a:rPr lang="en">
                <a:solidFill>
                  <a:schemeClr val="dk2"/>
                </a:solidFill>
              </a:rPr>
            </a:br>
            <a:r>
              <a:rPr lang="en">
                <a:solidFill>
                  <a:schemeClr val="dk2"/>
                </a:solidFill>
              </a:rPr>
              <a:t>Train Loss - 1.1748 | Train Acc - 0.5842</a:t>
            </a:r>
            <a:endParaRPr>
              <a:solidFill>
                <a:schemeClr val="dk2"/>
              </a:solidFill>
            </a:endParaRPr>
          </a:p>
          <a:p>
            <a:pPr indent="0" lvl="0" marL="0" rtl="0" algn="l">
              <a:spcBef>
                <a:spcPts val="0"/>
              </a:spcBef>
              <a:spcAft>
                <a:spcPts val="0"/>
              </a:spcAft>
              <a:buClr>
                <a:schemeClr val="dk1"/>
              </a:buClr>
              <a:buSzPts val="1100"/>
              <a:buFont typeface="Arial"/>
              <a:buNone/>
            </a:pPr>
            <a:r>
              <a:rPr lang="en">
                <a:solidFill>
                  <a:schemeClr val="dk2"/>
                </a:solidFill>
              </a:rPr>
              <a:t>Valid</a:t>
            </a:r>
            <a:r>
              <a:rPr lang="en">
                <a:solidFill>
                  <a:schemeClr val="dk2"/>
                </a:solidFill>
              </a:rPr>
              <a:t> Loss - 1.1605 | Valid Acc - 0.5886</a:t>
            </a:r>
            <a:endParaRPr>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6"/>
          <p:cNvPicPr preferRelativeResize="0"/>
          <p:nvPr/>
        </p:nvPicPr>
        <p:blipFill>
          <a:blip r:embed="rId3">
            <a:alphaModFix/>
          </a:blip>
          <a:stretch>
            <a:fillRect/>
          </a:stretch>
        </p:blipFill>
        <p:spPr>
          <a:xfrm>
            <a:off x="0" y="1489900"/>
            <a:ext cx="5152152" cy="3653599"/>
          </a:xfrm>
          <a:prstGeom prst="rect">
            <a:avLst/>
          </a:prstGeom>
          <a:noFill/>
          <a:ln>
            <a:noFill/>
          </a:ln>
        </p:spPr>
      </p:pic>
      <p:sp>
        <p:nvSpPr>
          <p:cNvPr id="151" name="Google Shape;151;p26"/>
          <p:cNvSpPr txBox="1"/>
          <p:nvPr/>
        </p:nvSpPr>
        <p:spPr>
          <a:xfrm>
            <a:off x="636250" y="82225"/>
            <a:ext cx="74736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Experiment #6 - Fine tuning </a:t>
            </a:r>
            <a:endParaRPr sz="1800">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52" name="Google Shape;152;p26"/>
          <p:cNvSpPr txBox="1"/>
          <p:nvPr/>
        </p:nvSpPr>
        <p:spPr>
          <a:xfrm>
            <a:off x="636250" y="494300"/>
            <a:ext cx="7473600" cy="12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Fine-tune all - </a:t>
            </a:r>
            <a:r>
              <a:rPr lang="en">
                <a:solidFill>
                  <a:schemeClr val="dk2"/>
                </a:solidFill>
              </a:rPr>
              <a:t>Propagate</a:t>
            </a:r>
            <a:r>
              <a:rPr lang="en">
                <a:solidFill>
                  <a:schemeClr val="dk2"/>
                </a:solidFill>
              </a:rPr>
              <a:t> the </a:t>
            </a:r>
            <a:r>
              <a:rPr lang="en">
                <a:solidFill>
                  <a:schemeClr val="dk2"/>
                </a:solidFill>
              </a:rPr>
              <a:t>learning on my data set thru all CNN layers</a:t>
            </a:r>
            <a:endParaRPr>
              <a:solidFill>
                <a:schemeClr val="dk2"/>
              </a:solidFill>
            </a:endParaRPr>
          </a:p>
          <a:p>
            <a:pPr indent="0" lvl="0" marL="0" rtl="0" algn="l">
              <a:spcBef>
                <a:spcPts val="0"/>
              </a:spcBef>
              <a:spcAft>
                <a:spcPts val="0"/>
              </a:spcAft>
              <a:buNone/>
            </a:pPr>
            <a:r>
              <a:rPr lang="en">
                <a:solidFill>
                  <a:schemeClr val="dk2"/>
                </a:solidFill>
              </a:rPr>
              <a:t>Fine-tune Partial - </a:t>
            </a:r>
            <a:r>
              <a:rPr lang="en">
                <a:solidFill>
                  <a:schemeClr val="dk2"/>
                </a:solidFill>
              </a:rPr>
              <a:t>Propagate the learning on my data set thru subset of CNN layers</a:t>
            </a:r>
            <a:endParaRPr>
              <a:solidFill>
                <a:schemeClr val="dk2"/>
              </a:solidFill>
            </a:endParaRPr>
          </a:p>
          <a:p>
            <a:pPr indent="0" lvl="0" marL="0" rtl="0" algn="l">
              <a:spcBef>
                <a:spcPts val="0"/>
              </a:spcBef>
              <a:spcAft>
                <a:spcPts val="0"/>
              </a:spcAft>
              <a:buNone/>
            </a:pPr>
            <a:r>
              <a:rPr lang="en">
                <a:solidFill>
                  <a:schemeClr val="dk2"/>
                </a:solidFill>
              </a:rPr>
              <a:t>From Scratch - Train CNN on my data set without pre training on CIFAR</a:t>
            </a:r>
            <a:endParaRPr>
              <a:solidFill>
                <a:schemeClr val="dk2"/>
              </a:solidFill>
            </a:endParaRPr>
          </a:p>
          <a:p>
            <a:pPr indent="0" lvl="0" marL="0" rtl="0" algn="ctr">
              <a:spcBef>
                <a:spcPts val="0"/>
              </a:spcBef>
              <a:spcAft>
                <a:spcPts val="0"/>
              </a:spcAft>
              <a:buNone/>
            </a:pPr>
            <a:br>
              <a:rPr lang="en" sz="1800">
                <a:solidFill>
                  <a:schemeClr val="dk2"/>
                </a:solidFill>
              </a:rPr>
            </a:br>
            <a:endParaRPr sz="1800">
              <a:solidFill>
                <a:schemeClr val="dk2"/>
              </a:solidFill>
            </a:endParaRPr>
          </a:p>
        </p:txBody>
      </p:sp>
      <p:sp>
        <p:nvSpPr>
          <p:cNvPr id="153" name="Google Shape;153;p26"/>
          <p:cNvSpPr txBox="1"/>
          <p:nvPr/>
        </p:nvSpPr>
        <p:spPr>
          <a:xfrm>
            <a:off x="5315550" y="1705350"/>
            <a:ext cx="3828300" cy="3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Results</a:t>
            </a:r>
            <a:r>
              <a:rPr lang="en">
                <a:solidFill>
                  <a:schemeClr val="dk2"/>
                </a:solidFill>
              </a:rPr>
              <a:t>:</a:t>
            </a:r>
            <a:br>
              <a:rPr lang="en">
                <a:solidFill>
                  <a:schemeClr val="dk2"/>
                </a:solidFill>
              </a:rPr>
            </a:br>
            <a:r>
              <a:rPr lang="en" sz="1100">
                <a:solidFill>
                  <a:srgbClr val="666666"/>
                </a:solidFill>
              </a:rPr>
              <a:t>Test results show that models pretrained on CIFAR-10 significantly outperformed training from scratch. The configuration that froze the CNN layers and only fine-tuned the fully connected layers (brown) achieved the best performance with 0.3625 validation accuracy and the lowest loss.</a:t>
            </a:r>
            <a:endParaRPr>
              <a:solidFill>
                <a:srgbClr val="6666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